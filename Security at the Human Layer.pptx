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qA+1ADVHHsEO2wrGm5Cip9xqd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hyperlink" Target="https://wise-signer.cyfrin.io/?utm_source=chatgpt.co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714375" y="2028825"/>
            <a:ext cx="6429375" cy="1414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Security at the Human Layer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14375" y="3729038"/>
            <a:ext cx="8429625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704"/>
              <a:buFont typeface="Inter"/>
              <a:buNone/>
            </a:pPr>
            <a:r>
              <a:rPr b="0" i="0" lang="en-US" sz="1704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Senior Security Researcher, QuillAudits</a:t>
            </a:r>
            <a:endParaRPr sz="1704">
              <a:solidFill>
                <a:srgbClr val="7DD3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14375" y="4077295"/>
            <a:ext cx="84296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69"/>
              <a:buFont typeface="Inter"/>
              <a:buNone/>
            </a:pPr>
            <a:r>
              <a:rPr b="1" i="0" lang="en-US" sz="136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Anuoluwapo Adeleke</a:t>
            </a:r>
            <a:endParaRPr b="1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 title="Headshot-Anu.png"/>
          <p:cNvPicPr preferRelativeResize="0"/>
          <p:nvPr/>
        </p:nvPicPr>
        <p:blipFill rotWithShape="1">
          <a:blip r:embed="rId4">
            <a:alphaModFix amt="84000"/>
          </a:blip>
          <a:srcRect b="17464" l="0" r="0" t="0"/>
          <a:stretch/>
        </p:blipFill>
        <p:spPr>
          <a:xfrm>
            <a:off x="7546168" y="3083441"/>
            <a:ext cx="1281925" cy="158709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7287625" y="3106401"/>
            <a:ext cx="1823400" cy="1847400"/>
          </a:xfrm>
          <a:prstGeom prst="ellipse">
            <a:avLst/>
          </a:prstGeom>
          <a:solidFill>
            <a:srgbClr val="7DD3FC">
              <a:alpha val="5098"/>
            </a:srgbClr>
          </a:solidFill>
          <a:ln cap="flat" cmpd="sng" w="29800">
            <a:solidFill>
              <a:srgbClr val="7DD3F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285775" lIns="285775" spcFirstLastPara="1" rIns="285775" wrap="square" tIns="285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714375" y="1322487"/>
            <a:ext cx="7143750" cy="2357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6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82"/>
              <a:buFont typeface="Inter"/>
              <a:buNone/>
            </a:pPr>
            <a:r>
              <a:rPr b="1" i="0" lang="en-US" sz="518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Secure Systems.</a:t>
            </a:r>
            <a:br>
              <a:rPr b="1" i="0" lang="en-US" sz="518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518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People.</a:t>
            </a:r>
            <a:endParaRPr b="0" i="0" sz="5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14375" y="3822799"/>
            <a:ext cx="8429625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40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924"/>
              <a:buFont typeface="Inter"/>
              <a:buNone/>
            </a:pPr>
            <a:r>
              <a:rPr b="0" i="0" lang="en-US" sz="1924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Most failures are workflow failures.</a:t>
            </a:r>
            <a:endParaRPr b="0" i="0" sz="1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/>
          <p:nvPr/>
        </p:nvSpPr>
        <p:spPr>
          <a:xfrm>
            <a:off x="714375" y="742950"/>
            <a:ext cx="8429625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Inter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Expanded Attack Surface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81360" y="1448395"/>
            <a:ext cx="1809155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808"/>
              <a:buFont typeface="Inter"/>
              <a:buNone/>
            </a:pPr>
            <a:r>
              <a:rPr b="1" i="0" lang="en-US" sz="1808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Public Identity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756720" y="1448395"/>
            <a:ext cx="163056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808"/>
              <a:buFont typeface="Inter"/>
              <a:buNone/>
            </a:pPr>
            <a:r>
              <a:rPr b="1" i="0" lang="en-US" sz="1808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Public Wallet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286500" y="1448395"/>
            <a:ext cx="2143125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808"/>
              <a:buFont typeface="Inter"/>
              <a:buNone/>
            </a:pPr>
            <a:r>
              <a:rPr b="1" i="0" lang="en-US" sz="1808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Public Reputation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14375" y="4295180"/>
            <a:ext cx="6429375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4"/>
              <a:buFont typeface="Inter"/>
              <a:buNone/>
            </a:pPr>
            <a:r>
              <a:rPr b="0" i="0" lang="en-US" sz="170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value becomes visible, attack surfaces expand.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714375" y="742950"/>
            <a:ext cx="7143750" cy="1005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Inter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Largest Phishing Exploits Were Not Code Bugs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14375" y="2349568"/>
            <a:ext cx="290572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69"/>
              <a:buFont typeface="Inter"/>
              <a:buNone/>
            </a:pPr>
            <a:r>
              <a:rPr b="0" i="0" lang="en-US" sz="126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EXPLOIT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14375" y="2628174"/>
            <a:ext cx="2905720" cy="124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456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592"/>
              <a:buFont typeface="Inter"/>
              <a:buNone/>
            </a:pPr>
            <a:r>
              <a:rPr b="0" i="0" lang="en-US" sz="2592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Multi-million wallet drain events</a:t>
            </a:r>
            <a:endParaRPr b="0" i="0" sz="25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063133" y="2399574"/>
            <a:ext cx="3366492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69"/>
              <a:buFont typeface="Inter"/>
              <a:buNone/>
            </a:pPr>
            <a:r>
              <a:rPr b="0" i="0" lang="en-US" sz="126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PRIMARY CAUSE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063133" y="2678181"/>
            <a:ext cx="336649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564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4145"/>
              <a:buFont typeface="Inter"/>
              <a:buNone/>
            </a:pPr>
            <a:r>
              <a:rPr b="1" i="0" lang="en-US" sz="4145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Trust Assumption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14375" y="4329113"/>
            <a:ext cx="84296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86"/>
              <a:buFont typeface="Inter"/>
              <a:buNone/>
            </a:pPr>
            <a:r>
              <a:rPr b="0" i="0" lang="en-US" sz="1486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Manipulation of users, not protocol logic.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714375" y="742950"/>
            <a:ext cx="842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45"/>
              <a:buFont typeface="Inter"/>
              <a:buNone/>
            </a:pPr>
            <a:r>
              <a:rPr b="1" i="0" lang="en-US" sz="414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Strong Code / Weak Workflow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285875" y="2404765"/>
            <a:ext cx="1714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Developer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000375" y="2826246"/>
            <a:ext cx="714375" cy="14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2653903" y="2397621"/>
            <a:ext cx="140731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ASSUMED TRUST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714750" y="2404765"/>
            <a:ext cx="1714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Multisig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29250" y="2826246"/>
            <a:ext cx="714375" cy="14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143625" y="2404765"/>
            <a:ext cx="1714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Inter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Treasury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14375" y="4295180"/>
            <a:ext cx="7143750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4"/>
              <a:buFont typeface="Inter"/>
              <a:buNone/>
            </a:pPr>
            <a:r>
              <a:rPr b="0" i="0" lang="en-US" sz="170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Coordination fails where cryptography succeeds.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714375" y="742950"/>
            <a:ext cx="842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45"/>
              <a:buFont typeface="Inter"/>
              <a:buNone/>
            </a:pPr>
            <a:r>
              <a:rPr b="1" i="0" lang="en-US" sz="414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Invisible Layer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2786063" y="1514475"/>
            <a:ext cx="3571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2"/>
              <a:buFont typeface="Inter"/>
              <a:buNone/>
            </a:pPr>
            <a:r>
              <a:rPr b="1" i="0" lang="en-US" sz="160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64856" y="2085975"/>
            <a:ext cx="14288" cy="2857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2786063" y="2371725"/>
            <a:ext cx="3571875" cy="571500"/>
          </a:xfrm>
          <a:prstGeom prst="rect">
            <a:avLst/>
          </a:prstGeom>
          <a:solidFill>
            <a:srgbClr val="7DD3FC">
              <a:alpha val="5098"/>
            </a:srgbClr>
          </a:solidFill>
          <a:ln cap="flat" cmpd="sng" w="18275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2786063" y="2371725"/>
            <a:ext cx="3571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602"/>
              <a:buFont typeface="Inter"/>
              <a:buNone/>
            </a:pPr>
            <a:r>
              <a:rPr b="1" i="0" lang="en-US" sz="1602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64856" y="2943225"/>
            <a:ext cx="14288" cy="2857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2786063" y="3228975"/>
            <a:ext cx="3571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2"/>
              <a:buFont typeface="Inter"/>
              <a:buNone/>
            </a:pPr>
            <a:r>
              <a:rPr b="1" i="0" lang="en-US" sz="160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Protocol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14375" y="4086225"/>
            <a:ext cx="7143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86"/>
              <a:buFont typeface="Inter"/>
              <a:buNone/>
            </a:pPr>
            <a:r>
              <a:rPr b="0" i="0" lang="en-US" sz="1486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Audits often cover protocol logic and access control. Very few evaluate operational assumptions.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7"/>
          <p:cNvSpPr/>
          <p:nvPr/>
        </p:nvSpPr>
        <p:spPr>
          <a:xfrm>
            <a:off x="714375" y="885825"/>
            <a:ext cx="8429625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6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Security That Scales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014413" y="2021681"/>
            <a:ext cx="177165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Behavioral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14413" y="2721769"/>
            <a:ext cx="188416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Repeatable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014413" y="3421856"/>
            <a:ext cx="2925366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Assumption-light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714375" y="4011941"/>
            <a:ext cx="5715000" cy="560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48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86"/>
              <a:buFont typeface="Inter"/>
              <a:buNone/>
            </a:pPr>
            <a:r>
              <a:rPr b="0" i="0" lang="en-US" sz="1486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Security must work under fatigue, urgency, and shifting roles.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714375" y="742950"/>
            <a:ext cx="842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45"/>
              <a:buFont typeface="Inter"/>
              <a:buNone/>
            </a:pPr>
            <a:r>
              <a:rPr b="1" i="0" lang="en-US" sz="414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Monday Morning Changes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1210500" y="1765775"/>
            <a:ext cx="6723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4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24"/>
              <a:buFont typeface="Inter"/>
              <a:buNone/>
            </a:pPr>
            <a:r>
              <a:rPr b="0" i="0" lang="en-US" sz="1924" u="none" cap="none" strike="noStrike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Separate id</a:t>
            </a:r>
            <a:r>
              <a:rPr lang="en-US" sz="1924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entity from authority: p</a:t>
            </a:r>
            <a:r>
              <a:rPr b="0" i="0" lang="en-US" sz="1924" u="none" cap="none" strike="noStrike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ublic and </a:t>
            </a:r>
            <a:r>
              <a:rPr lang="en-US" sz="1924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sz="1924" u="none" cap="none" strike="noStrike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reasury wallets</a:t>
            </a:r>
            <a:endParaRPr b="0" i="0" sz="1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1214438" y="2988934"/>
            <a:ext cx="4129088" cy="30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4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24"/>
              <a:buFont typeface="Inter"/>
              <a:buNone/>
            </a:pPr>
            <a:r>
              <a:rPr b="0" i="0" lang="en-US" sz="1924" u="none" cap="none" strike="noStrike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Remove shared-device workflows</a:t>
            </a:r>
            <a:endParaRPr b="0" i="0" sz="1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1214464" y="3583312"/>
            <a:ext cx="7161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24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Simulate Failure Before It Happens -- phishing simulation, tabletop exercises</a:t>
            </a:r>
            <a:endParaRPr sz="1924">
              <a:solidFill>
                <a:srgbClr val="F0F4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4740"/>
              </a:lnSpc>
              <a:spcBef>
                <a:spcPts val="1200"/>
              </a:spcBef>
              <a:spcAft>
                <a:spcPts val="0"/>
              </a:spcAft>
              <a:buClr>
                <a:srgbClr val="F0F4F8"/>
              </a:buClr>
              <a:buSzPts val="1924"/>
              <a:buFont typeface="Inter"/>
              <a:buNone/>
            </a:pPr>
            <a:r>
              <a:t/>
            </a:r>
            <a:endParaRPr sz="1924">
              <a:solidFill>
                <a:srgbClr val="F0F4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714375" y="4541639"/>
            <a:ext cx="3482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IMMEDIATE OPERATIONAL IMPROVEMENTS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 txBox="1"/>
          <p:nvPr/>
        </p:nvSpPr>
        <p:spPr>
          <a:xfrm>
            <a:off x="1210500" y="2394575"/>
            <a:ext cx="6723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24">
                <a:solidFill>
                  <a:srgbClr val="F0F4F8"/>
                </a:solidFill>
                <a:latin typeface="Inter"/>
                <a:ea typeface="Inter"/>
                <a:cs typeface="Inter"/>
                <a:sym typeface="Inter"/>
              </a:rPr>
              <a:t>Verify Context, Not Just Payload - </a:t>
            </a:r>
            <a:r>
              <a:rPr lang="en-US" sz="1600" u="sng">
                <a:solidFill>
                  <a:schemeClr val="hlink"/>
                </a:solidFill>
                <a:hlinkClick r:id="rId4"/>
              </a:rPr>
              <a:t>https://wise-signer.cyfrin.io/</a:t>
            </a:r>
            <a:endParaRPr sz="2424">
              <a:solidFill>
                <a:srgbClr val="F0F4F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1000125" y="971550"/>
            <a:ext cx="714375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6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82"/>
              <a:buFont typeface="Inter"/>
              <a:buNone/>
            </a:pPr>
            <a:r>
              <a:rPr b="1" i="0" lang="en-US" sz="518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Trust is infrastructure.</a:t>
            </a:r>
            <a:endParaRPr b="0" i="0" sz="51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714500" y="3143250"/>
            <a:ext cx="5715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845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4"/>
              <a:buFont typeface="Inter"/>
              <a:buNone/>
            </a:pPr>
            <a:r>
              <a:rPr b="0" i="0" lang="en-US" sz="170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 clicked a link earlier. Nothing happened.</a:t>
            </a:r>
            <a:br>
              <a:rPr b="0" i="0" lang="en-US" sz="170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70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But you paused.</a:t>
            </a:r>
            <a:br>
              <a:rPr b="0" i="0" lang="en-US" sz="170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704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602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That pause is security.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3024485" y="4541639"/>
            <a:ext cx="309503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SECURITY AT THE HUMAN LAYER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2026-02-27T09:34:02Z</dcterms:created>
  <dc:creator>PptxGenJS</dc:creator>
</cp:coreProperties>
</file>